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hyi+MHUCZ+57FcI7ySeDpU1HH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D4A025-BB4C-440C-B30F-4CEA7B768862}">
  <a:tblStyle styleId="{2BD4A025-BB4C-440C-B30F-4CEA7B7688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Melanie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5705786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c75705786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Melanie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31b86c58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31b86c58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7570578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c7570578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Melanie</a:t>
            </a:r>
            <a:endParaRPr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Monthly data reduces noise and aligns with macro regimes</a:t>
            </a:r>
            <a:endParaRPr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ETF proxies ensure investability and transparency</a:t>
            </a:r>
            <a:endParaRPr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Excess returns enable clean factor attribution</a:t>
            </a:r>
            <a:endParaRPr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b="1"/>
              <a:t>AAPL</a:t>
            </a:r>
            <a:endParaRPr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High beta, growth-oriented, factor-sensitive</a:t>
            </a:r>
            <a:endParaRPr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Broad investment-grade bond exposure</a:t>
            </a:r>
            <a:endParaRPr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Equity proxy for commodity and oil exposure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Chinna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Factor selection was driven by economic intuition across equity, fixed income, and macro regimes, and validated using correlation structure, stationarity, and multicollinearity diagnostics to avoid redundant or unstable exposures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Chinna</a:t>
            </a:r>
            <a:endParaRPr/>
          </a:p>
        </p:txBody>
      </p:sp>
      <p:sp>
        <p:nvSpPr>
          <p:cNvPr id="112" name="Google Shape;1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75705786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75705786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Chinna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75705786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c75705786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Derek from Chinna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we then did assumption validation to test the our hypothesis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Main takeaways from this is how our Market Equitys factor, and Value proxy HML have high multicolinearity, meaning theyre highly correlated with other factors in the model.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All your factors and the target variable (LHS_TARGET) are stationary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Residuals are reasonably independent, with constant variance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But they dont follow a normal distribution with fat tails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48bfd233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48bfd233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Derek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we used a couple different models to determine best fit.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Linear regression was our baseline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Ridge shirks the coefficients to prevent overfitting and reduce complexity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ElasticNet combines the L1 L2 penaltys even further.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Then Random forest and XGboost. Building trees independantly  reducing var vs sequentially for bias and var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475504f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475504f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Derek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we were measuring Variance, Correlation, Hit rate, Magnitude of prediction errors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Equitys moderate fit and errors, good direction prediction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Commodities strong fit, low errors, very good direction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Bond Excellent fit, tiny errors, nearly perfect accuracy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Shiqin will explain our model backtesting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491a440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491a440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91a4400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491a4400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52fd487a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52fd487a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522d731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522d731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Apple: Persistent positive alpha → model misses key growth and tech specific drivers 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Exxon: Regime dependent alpha → model partially captures energy dynamics but fails in stress and upcycles 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Bond: Declining, negative alpha post 2022 → model breaks under the rate tightening regime.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b6b3f718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b6b3f718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522d731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522d731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531b86c58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d531b86c58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Melanie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143000" y="800100"/>
            <a:ext cx="6858000" cy="3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23888" y="2701434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Open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Open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 rot="5400000">
            <a:off x="3466650" y="-1468781"/>
            <a:ext cx="22107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Open Sans"/>
              <a:buNone/>
              <a:defRPr sz="4400" b="1" i="0" u="none" strike="noStrike" cap="non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22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/>
          <p:nvPr/>
        </p:nvSpPr>
        <p:spPr>
          <a:xfrm>
            <a:off x="0" y="4507278"/>
            <a:ext cx="9144000" cy="537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4"/>
          <p:cNvSpPr/>
          <p:nvPr/>
        </p:nvSpPr>
        <p:spPr>
          <a:xfrm>
            <a:off x="0" y="4560925"/>
            <a:ext cx="9144000" cy="5757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4" descr="A red background with white text&#10;&#10;Description automatically generated with medium confidenc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4575189"/>
            <a:ext cx="3657598" cy="57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 txBox="1"/>
          <p:nvPr/>
        </p:nvSpPr>
        <p:spPr>
          <a:xfrm>
            <a:off x="6233704" y="4554656"/>
            <a:ext cx="29103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FINANCIAL</a:t>
            </a:r>
            <a:br>
              <a:rPr lang="en-US" sz="2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>
            <a:spLocks noGrp="1"/>
          </p:cNvSpPr>
          <p:nvPr>
            <p:ph type="title"/>
          </p:nvPr>
        </p:nvSpPr>
        <p:spPr>
          <a:xfrm>
            <a:off x="0" y="550562"/>
            <a:ext cx="9144000" cy="176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CC0001"/>
                </a:solidFill>
                <a:latin typeface="Arial"/>
                <a:ea typeface="Arial"/>
                <a:cs typeface="Arial"/>
                <a:sym typeface="Arial"/>
              </a:rPr>
              <a:t>Multi Asset Factor Modeling &amp; Alpha Attribution</a:t>
            </a:r>
            <a:endParaRPr sz="3200">
              <a:solidFill>
                <a:srgbClr val="CC000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3" name="Google Shape;63;p1"/>
          <p:cNvSpPr txBox="1"/>
          <p:nvPr/>
        </p:nvSpPr>
        <p:spPr>
          <a:xfrm>
            <a:off x="1399309" y="1925784"/>
            <a:ext cx="5964300" cy="28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Advisors: Dr Tao Pang,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Patrick Roberts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Leader: Chinna Gurram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Members: Ryan Landey, Melanie Sanchez,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Shiqin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Song, Derek Wu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/>
              <a:t>April 10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75705786a_1_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The Team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3c75705786a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62" y="1271600"/>
            <a:ext cx="1681546" cy="168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c75705786a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2826" y="1271612"/>
            <a:ext cx="1681546" cy="168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c75705786a_1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9740" y="1277200"/>
            <a:ext cx="1697725" cy="16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c75705786a_1_0"/>
          <p:cNvSpPr txBox="1"/>
          <p:nvPr/>
        </p:nvSpPr>
        <p:spPr>
          <a:xfrm>
            <a:off x="118692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Chinna Gurram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crgurram@ncsu.edu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c75705786a_1_0"/>
          <p:cNvSpPr txBox="1"/>
          <p:nvPr/>
        </p:nvSpPr>
        <p:spPr>
          <a:xfrm>
            <a:off x="1906208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Ryan Landey 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rjlandey@ncsu.edu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c75705786a_1_0"/>
          <p:cNvSpPr txBox="1"/>
          <p:nvPr/>
        </p:nvSpPr>
        <p:spPr>
          <a:xfrm>
            <a:off x="3714528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Melanie Sanchez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mnsanche@ncsu.edu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c75705786a_1_0"/>
          <p:cNvSpPr txBox="1"/>
          <p:nvPr/>
        </p:nvSpPr>
        <p:spPr>
          <a:xfrm>
            <a:off x="5522849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Shiqin Song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ssong29@ncsu.edu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c75705786a_1_0"/>
          <p:cNvSpPr txBox="1"/>
          <p:nvPr/>
        </p:nvSpPr>
        <p:spPr>
          <a:xfrm>
            <a:off x="7382677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Derek Wu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dwu22@ncsu.edu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3c75705786a_1_0"/>
          <p:cNvPicPr preferRelativeResize="0"/>
          <p:nvPr/>
        </p:nvPicPr>
        <p:blipFill rotWithShape="1">
          <a:blip r:embed="rId6">
            <a:alphaModFix/>
          </a:blip>
          <a:srcRect r="-17855" b="-17855"/>
          <a:stretch/>
        </p:blipFill>
        <p:spPr>
          <a:xfrm>
            <a:off x="3714548" y="1271600"/>
            <a:ext cx="1983050" cy="19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c75705786a_1_0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79" name="Google Shape;79;g3c75705786a_1_0" title="_BK1816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6200" y="1260577"/>
            <a:ext cx="1681500" cy="16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531b86c58_0_249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Big Picture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d531b86c58_0_249"/>
          <p:cNvSpPr txBox="1"/>
          <p:nvPr/>
        </p:nvSpPr>
        <p:spPr>
          <a:xfrm>
            <a:off x="3328653" y="3615256"/>
            <a:ext cx="2486700" cy="59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750" tIns="102750" rIns="102750" bIns="10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PERFORMANCE ATTRIBUTION</a:t>
            </a:r>
            <a:endParaRPr sz="162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g3d531b86c58_0_249"/>
          <p:cNvSpPr txBox="1"/>
          <p:nvPr/>
        </p:nvSpPr>
        <p:spPr>
          <a:xfrm>
            <a:off x="6365539" y="756225"/>
            <a:ext cx="2486700" cy="59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7800" tIns="147800" rIns="147800" bIns="14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7">
                <a:solidFill>
                  <a:schemeClr val="dk1"/>
                </a:solidFill>
              </a:rPr>
              <a:t>COMMODITY FACTORS</a:t>
            </a:r>
            <a:endParaRPr sz="1617">
              <a:solidFill>
                <a:schemeClr val="dk1"/>
              </a:solidFill>
            </a:endParaRPr>
          </a:p>
        </p:txBody>
      </p:sp>
      <p:sp>
        <p:nvSpPr>
          <p:cNvPr id="87" name="Google Shape;87;g3d531b86c58_0_249"/>
          <p:cNvSpPr txBox="1"/>
          <p:nvPr/>
        </p:nvSpPr>
        <p:spPr>
          <a:xfrm>
            <a:off x="3328657" y="756225"/>
            <a:ext cx="2486700" cy="59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7800" tIns="147800" rIns="147800" bIns="14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7">
                <a:solidFill>
                  <a:schemeClr val="dk1"/>
                </a:solidFill>
              </a:rPr>
              <a:t>BOND FACTORS</a:t>
            </a:r>
            <a:endParaRPr sz="1617">
              <a:solidFill>
                <a:schemeClr val="dk1"/>
              </a:solidFill>
            </a:endParaRPr>
          </a:p>
        </p:txBody>
      </p:sp>
      <p:sp>
        <p:nvSpPr>
          <p:cNvPr id="88" name="Google Shape;88;g3d531b86c58_0_249"/>
          <p:cNvSpPr txBox="1"/>
          <p:nvPr/>
        </p:nvSpPr>
        <p:spPr>
          <a:xfrm>
            <a:off x="291755" y="756225"/>
            <a:ext cx="2486700" cy="59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7800" tIns="147800" rIns="147800" bIns="14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7">
                <a:solidFill>
                  <a:schemeClr val="dk1"/>
                </a:solidFill>
              </a:rPr>
              <a:t>EQUITY FACTORS</a:t>
            </a:r>
            <a:endParaRPr sz="1617">
              <a:solidFill>
                <a:schemeClr val="dk1"/>
              </a:solidFill>
            </a:endParaRPr>
          </a:p>
        </p:txBody>
      </p:sp>
      <p:sp>
        <p:nvSpPr>
          <p:cNvPr id="89" name="Google Shape;89;g3d531b86c58_0_249"/>
          <p:cNvSpPr txBox="1"/>
          <p:nvPr/>
        </p:nvSpPr>
        <p:spPr>
          <a:xfrm>
            <a:off x="3328650" y="1771119"/>
            <a:ext cx="2486700" cy="59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7650" tIns="117650" rIns="117650" bIns="117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MULTI-ASSET FACTOR MODEL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90" name="Google Shape;90;g3d531b86c58_0_249"/>
          <p:cNvCxnSpPr>
            <a:stCxn id="88" idx="2"/>
          </p:cNvCxnSpPr>
          <p:nvPr/>
        </p:nvCxnSpPr>
        <p:spPr>
          <a:xfrm>
            <a:off x="1535105" y="1348725"/>
            <a:ext cx="2165400" cy="36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91;g3d531b86c58_0_249"/>
          <p:cNvCxnSpPr>
            <a:stCxn id="86" idx="2"/>
          </p:cNvCxnSpPr>
          <p:nvPr/>
        </p:nvCxnSpPr>
        <p:spPr>
          <a:xfrm flipH="1">
            <a:off x="5402389" y="1348725"/>
            <a:ext cx="2206500" cy="3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92;g3d531b86c58_0_249"/>
          <p:cNvCxnSpPr>
            <a:stCxn id="87" idx="2"/>
            <a:endCxn id="89" idx="0"/>
          </p:cNvCxnSpPr>
          <p:nvPr/>
        </p:nvCxnSpPr>
        <p:spPr>
          <a:xfrm>
            <a:off x="4572007" y="1348725"/>
            <a:ext cx="0" cy="42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93;g3d531b86c58_0_249"/>
          <p:cNvCxnSpPr>
            <a:stCxn id="89" idx="2"/>
            <a:endCxn id="85" idx="0"/>
          </p:cNvCxnSpPr>
          <p:nvPr/>
        </p:nvCxnSpPr>
        <p:spPr>
          <a:xfrm>
            <a:off x="4572000" y="2363619"/>
            <a:ext cx="0" cy="125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4" name="Google Shape;94;g3d531b86c58_0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303" y="2597138"/>
            <a:ext cx="4121393" cy="7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d531b86c58_0_249"/>
          <p:cNvSpPr txBox="1">
            <a:spLocks noGrp="1"/>
          </p:cNvSpPr>
          <p:nvPr>
            <p:ph type="sldNum" idx="12"/>
          </p:nvPr>
        </p:nvSpPr>
        <p:spPr>
          <a:xfrm>
            <a:off x="8595309" y="41025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5705786a_0_0"/>
          <p:cNvSpPr txBox="1">
            <a:spLocks noGrp="1"/>
          </p:cNvSpPr>
          <p:nvPr>
            <p:ph type="ctrTitle"/>
          </p:nvPr>
        </p:nvSpPr>
        <p:spPr>
          <a:xfrm>
            <a:off x="685812" y="98745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Data Universe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" name="Google Shape;101;g3c75705786a_0_0"/>
          <p:cNvGraphicFramePr/>
          <p:nvPr>
            <p:extLst>
              <p:ext uri="{D42A27DB-BD31-4B8C-83A1-F6EECF244321}">
                <p14:modId xmlns:p14="http://schemas.microsoft.com/office/powerpoint/2010/main" val="1137270867"/>
              </p:ext>
            </p:extLst>
          </p:nvPr>
        </p:nvGraphicFramePr>
        <p:xfrm>
          <a:off x="1330898" y="777267"/>
          <a:ext cx="6482200" cy="3589080"/>
        </p:xfrm>
        <a:graphic>
          <a:graphicData uri="http://schemas.openxmlformats.org/drawingml/2006/table">
            <a:tbl>
              <a:tblPr firstRow="1">
                <a:noFill/>
                <a:tableStyleId>{2BD4A025-BB4C-440C-B30F-4CEA7B768862}</a:tableStyleId>
              </a:tblPr>
              <a:tblGrid>
                <a:gridCol w="324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u="sng" strike="noStrike" cap="none"/>
                        <a:t>Dimension</a:t>
                      </a:r>
                      <a:endParaRPr sz="1600" b="1" u="sng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u="sng" strike="noStrike" cap="none"/>
                        <a:t>Specification</a:t>
                      </a:r>
                      <a:endParaRPr sz="1600" b="1" u="sng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Data Frequency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Monthly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Sample Period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2007–Present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Asset Classes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Equity, Fixed Income, Commodities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LHS Assets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AAPL, AGG, XOM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Number of Factors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10 systematic factors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Factor Types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Equity, Rates, Credit, Volatility, Macro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Risk-Free Proxy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SHV (1–3M Treasury ETF)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Returns Used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Excess returns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Data Source</a:t>
                      </a:r>
                      <a:endParaRPr sz="160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Yahoo Finance (Adjusted Close)</a:t>
                      </a:r>
                      <a:endParaRPr sz="1600" dirty="0"/>
                    </a:p>
                  </a:txBody>
                  <a:tcPr marL="66300" marR="66300" marT="33150" marB="33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" name="Google Shape;102;g3c75705786a_0_0"/>
          <p:cNvSpPr txBox="1">
            <a:spLocks noGrp="1"/>
          </p:cNvSpPr>
          <p:nvPr>
            <p:ph type="sldNum" idx="12"/>
          </p:nvPr>
        </p:nvSpPr>
        <p:spPr>
          <a:xfrm>
            <a:off x="8595309" y="41025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Factor Overview</a:t>
            </a:r>
            <a:endParaRPr/>
          </a:p>
        </p:txBody>
      </p:sp>
      <p:graphicFrame>
        <p:nvGraphicFramePr>
          <p:cNvPr id="108" name="Google Shape;108;p15"/>
          <p:cNvGraphicFramePr/>
          <p:nvPr>
            <p:extLst>
              <p:ext uri="{D42A27DB-BD31-4B8C-83A1-F6EECF244321}">
                <p14:modId xmlns:p14="http://schemas.microsoft.com/office/powerpoint/2010/main" val="3020508728"/>
              </p:ext>
            </p:extLst>
          </p:nvPr>
        </p:nvGraphicFramePr>
        <p:xfrm>
          <a:off x="307482" y="1055540"/>
          <a:ext cx="8683575" cy="2568060"/>
        </p:xfrm>
        <a:graphic>
          <a:graphicData uri="http://schemas.openxmlformats.org/drawingml/2006/table">
            <a:tbl>
              <a:tblPr firstRow="1">
                <a:noFill/>
                <a:tableStyleId>{2BD4A025-BB4C-440C-B30F-4CEA7B768862}</a:tableStyleId>
              </a:tblPr>
              <a:tblGrid>
                <a:gridCol w="2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Factor</a:t>
                      </a:r>
                      <a:endParaRPr b="1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Proxy</a:t>
                      </a:r>
                      <a:endParaRPr b="1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Rationale</a:t>
                      </a:r>
                      <a:endParaRPr b="1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🟦 MKT_EQ</a:t>
                      </a:r>
                      <a:endParaRPr dirty="0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SPY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Captures broad equity market risk and systematic beta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🟦 SMB_EQ</a:t>
                      </a:r>
                      <a:endParaRPr dirty="0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IWM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Proxies size premium and cyclicality in equity markets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🟦 HML_EQ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VTV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Differentiates value versus growth exposure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🟦 MOM_EQ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PDP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Captures momentum effects and trend persistence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🟦 MKT_VOL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VIX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Controls for volatility and risk</a:t>
                      </a:r>
                      <a:r>
                        <a:rPr lang="en-US" dirty="0"/>
                        <a:t> </a:t>
                      </a:r>
                      <a:r>
                        <a:rPr lang="en-US" sz="1400" u="none" strike="noStrike" cap="none" dirty="0"/>
                        <a:t>aversion regimes</a:t>
                      </a:r>
                      <a:endParaRPr dirty="0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Factor Overview</a:t>
            </a:r>
            <a:endParaRPr/>
          </a:p>
        </p:txBody>
      </p:sp>
      <p:graphicFrame>
        <p:nvGraphicFramePr>
          <p:cNvPr id="115" name="Google Shape;115;p16"/>
          <p:cNvGraphicFramePr/>
          <p:nvPr>
            <p:extLst>
              <p:ext uri="{D42A27DB-BD31-4B8C-83A1-F6EECF244321}">
                <p14:modId xmlns:p14="http://schemas.microsoft.com/office/powerpoint/2010/main" val="3567108244"/>
              </p:ext>
            </p:extLst>
          </p:nvPr>
        </p:nvGraphicFramePr>
        <p:xfrm>
          <a:off x="905914" y="810167"/>
          <a:ext cx="6877200" cy="3208140"/>
        </p:xfrm>
        <a:graphic>
          <a:graphicData uri="http://schemas.openxmlformats.org/drawingml/2006/table">
            <a:tbl>
              <a:tblPr firstRow="1">
                <a:noFill/>
                <a:tableStyleId>{2BD4A025-BB4C-440C-B30F-4CEA7B768862}</a:tableStyleId>
              </a:tblPr>
              <a:tblGrid>
                <a:gridCol w="22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Factor</a:t>
                      </a:r>
                      <a:endParaRPr b="1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Proxy</a:t>
                      </a:r>
                      <a:endParaRPr b="1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Rationale</a:t>
                      </a:r>
                      <a:endParaRPr b="1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🟥 TERM_BND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TLT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Measures duration risk and term-structure sensitivity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🟥 CREDIT_BND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LQD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Captures corporate credit spread risk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🟥 LRF_BND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BND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Proxies bond market liquidity and broad rate exposure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🟩 COMM_BASKET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DBC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Represents inflation pressure and real-asset cycles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🟩 OIL_MACRO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USO</a:t>
                      </a:r>
                      <a:endParaRPr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Captures oil price shocks and energy-driven macro risk</a:t>
                      </a:r>
                      <a:endParaRPr dirty="0"/>
                    </a:p>
                  </a:txBody>
                  <a:tcPr marL="36825" marR="36825" marT="18425" marB="184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75705786a_0_6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EDA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c75705786a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51" y="668063"/>
            <a:ext cx="4061349" cy="3630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c75705786a_0_6"/>
          <p:cNvSpPr txBox="1"/>
          <p:nvPr/>
        </p:nvSpPr>
        <p:spPr>
          <a:xfrm>
            <a:off x="4572000" y="856675"/>
            <a:ext cx="4444500" cy="28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Equity factors are highly correlated.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Bond factors share exposure.	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Volatility moves opposite equities.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Multicollinearity risk.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c75705786a_0_6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5705786a_0_11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Assumption Validation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c75705786a_0_11"/>
          <p:cNvSpPr txBox="1">
            <a:spLocks noGrp="1"/>
          </p:cNvSpPr>
          <p:nvPr>
            <p:ph type="subTitle" idx="1"/>
          </p:nvPr>
        </p:nvSpPr>
        <p:spPr>
          <a:xfrm>
            <a:off x="4078500" y="962175"/>
            <a:ext cx="7378200" cy="3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Variance Inflation Factor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ADF Test: all factors are stationary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Durbin–Watson: independent residuals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Breusch–Pagan: constant variance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Jarque–Bera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c75705786a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750" y="890750"/>
            <a:ext cx="3968151" cy="330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c75705786a_0_11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3" name="Google Shape;133;g3c75705786a_0_11"/>
          <p:cNvSpPr/>
          <p:nvPr/>
        </p:nvSpPr>
        <p:spPr>
          <a:xfrm>
            <a:off x="1192475" y="1843475"/>
            <a:ext cx="717300" cy="155700"/>
          </a:xfrm>
          <a:prstGeom prst="ellipse">
            <a:avLst/>
          </a:prstGeom>
          <a:noFill/>
          <a:ln w="9525" cap="flat" cmpd="sng">
            <a:solidFill>
              <a:srgbClr val="CC00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g3c75705786a_0_11"/>
          <p:cNvSpPr/>
          <p:nvPr/>
        </p:nvSpPr>
        <p:spPr>
          <a:xfrm>
            <a:off x="1233075" y="2136775"/>
            <a:ext cx="622500" cy="186600"/>
          </a:xfrm>
          <a:prstGeom prst="ellipse">
            <a:avLst/>
          </a:prstGeom>
          <a:noFill/>
          <a:ln w="9525" cap="flat" cmpd="sng">
            <a:solidFill>
              <a:srgbClr val="CC00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g3c75705786a_0_11"/>
          <p:cNvSpPr/>
          <p:nvPr/>
        </p:nvSpPr>
        <p:spPr>
          <a:xfrm>
            <a:off x="2918250" y="3876750"/>
            <a:ext cx="209700" cy="18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g3c75705786a_0_11"/>
          <p:cNvSpPr/>
          <p:nvPr/>
        </p:nvSpPr>
        <p:spPr>
          <a:xfrm>
            <a:off x="2397325" y="4070125"/>
            <a:ext cx="717300" cy="6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g3c75705786a_0_11"/>
          <p:cNvSpPr/>
          <p:nvPr/>
        </p:nvSpPr>
        <p:spPr>
          <a:xfrm>
            <a:off x="1932575" y="4026175"/>
            <a:ext cx="622500" cy="155700"/>
          </a:xfrm>
          <a:prstGeom prst="ellipse">
            <a:avLst/>
          </a:prstGeom>
          <a:noFill/>
          <a:ln w="9525" cap="flat" cmpd="sng">
            <a:solidFill>
              <a:srgbClr val="CC00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48bfd233f_0_1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Model Overviews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d48bfd233f_0_1"/>
          <p:cNvSpPr txBox="1">
            <a:spLocks noGrp="1"/>
          </p:cNvSpPr>
          <p:nvPr>
            <p:ph type="subTitle" idx="1"/>
          </p:nvPr>
        </p:nvSpPr>
        <p:spPr>
          <a:xfrm>
            <a:off x="1066800" y="815825"/>
            <a:ext cx="6858000" cy="314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Ridge Regression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ElasticNet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XGBoost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d48bfd233f_0_1"/>
          <p:cNvSpPr txBox="1">
            <a:spLocks noGrp="1"/>
          </p:cNvSpPr>
          <p:nvPr>
            <p:ph type="sldNum" idx="12"/>
          </p:nvPr>
        </p:nvSpPr>
        <p:spPr>
          <a:xfrm>
            <a:off x="8595309" y="40933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475504f9f_0_0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Model Fit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d475504f9f_0_0"/>
          <p:cNvSpPr txBox="1">
            <a:spLocks noGrp="1"/>
          </p:cNvSpPr>
          <p:nvPr>
            <p:ph type="subTitle" idx="1"/>
          </p:nvPr>
        </p:nvSpPr>
        <p:spPr>
          <a:xfrm>
            <a:off x="1143000" y="800100"/>
            <a:ext cx="6858000" cy="314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d475504f9f_0_0"/>
          <p:cNvSpPr txBox="1">
            <a:spLocks noGrp="1"/>
          </p:cNvSpPr>
          <p:nvPr>
            <p:ph type="sldNum" idx="12"/>
          </p:nvPr>
        </p:nvSpPr>
        <p:spPr>
          <a:xfrm>
            <a:off x="8595309" y="40866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52" name="Google Shape;152;g3d475504f9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0100"/>
            <a:ext cx="9144003" cy="28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491a44002_0_0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Model Backtesting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d491a44002_0_0"/>
          <p:cNvSpPr txBox="1">
            <a:spLocks noGrp="1"/>
          </p:cNvSpPr>
          <p:nvPr>
            <p:ph type="subTitle" idx="1"/>
          </p:nvPr>
        </p:nvSpPr>
        <p:spPr>
          <a:xfrm>
            <a:off x="3448" y="749250"/>
            <a:ext cx="4703700" cy="314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260-week training window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Predict 1 week ahead at each step, then slide forward 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3 assets: Apple (AAPL), Bonds (AGG), Exxon (XOM) 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No look ahead bias — winsorization, scaling, and CV all use training data only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d491a44002_0_0" title="Screenshot 2026-04-02 at 11.25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900" y="708225"/>
            <a:ext cx="4394125" cy="322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d491a44002_0_0"/>
          <p:cNvSpPr txBox="1">
            <a:spLocks noGrp="1"/>
          </p:cNvSpPr>
          <p:nvPr>
            <p:ph type="sldNum" idx="12"/>
          </p:nvPr>
        </p:nvSpPr>
        <p:spPr>
          <a:xfrm>
            <a:off x="8580342" y="410593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491a44002_0_5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Backtesting Results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g3d491a4400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1275"/>
            <a:ext cx="8829026" cy="30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d491a44002_0_5"/>
          <p:cNvSpPr txBox="1">
            <a:spLocks noGrp="1"/>
          </p:cNvSpPr>
          <p:nvPr>
            <p:ph type="sldNum" idx="12"/>
          </p:nvPr>
        </p:nvSpPr>
        <p:spPr>
          <a:xfrm>
            <a:off x="8586050" y="41352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52fd487ab_0_6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Rolling Backtest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d52fd487ab_0_6"/>
          <p:cNvSpPr txBox="1">
            <a:spLocks noGrp="1"/>
          </p:cNvSpPr>
          <p:nvPr>
            <p:ph type="subTitle" idx="1"/>
          </p:nvPr>
        </p:nvSpPr>
        <p:spPr>
          <a:xfrm>
            <a:off x="156825" y="788250"/>
            <a:ext cx="4609800" cy="251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Generates one-step-ahead predictions over time 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Blue = Actual return | Orange = Predicted return 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Predictions track direction but remain noisy 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Indicates limited but present predictive signal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d52fd487ab_0_6"/>
          <p:cNvSpPr txBox="1">
            <a:spLocks noGrp="1"/>
          </p:cNvSpPr>
          <p:nvPr>
            <p:ph type="sldNum" idx="12"/>
          </p:nvPr>
        </p:nvSpPr>
        <p:spPr>
          <a:xfrm>
            <a:off x="8588195" y="41216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5" name="Google Shape;175;g3d52fd487a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325" y="662588"/>
            <a:ext cx="3705801" cy="17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d52fd487a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325" y="2478900"/>
            <a:ext cx="3705800" cy="175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522d73150_0_0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Alpha Attribution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d522d73150_0_0"/>
          <p:cNvSpPr txBox="1">
            <a:spLocks noGrp="1"/>
          </p:cNvSpPr>
          <p:nvPr>
            <p:ph type="subTitle" idx="1"/>
          </p:nvPr>
        </p:nvSpPr>
        <p:spPr>
          <a:xfrm>
            <a:off x="127275" y="3006550"/>
            <a:ext cx="9081000" cy="147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Apple: Persistent positive alpha 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Exxon: Regime dependent alpha 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Bond: Declining, negative alpha post 2022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d522d73150_0_0"/>
          <p:cNvSpPr txBox="1">
            <a:spLocks noGrp="1"/>
          </p:cNvSpPr>
          <p:nvPr>
            <p:ph type="sldNum" idx="12"/>
          </p:nvPr>
        </p:nvSpPr>
        <p:spPr>
          <a:xfrm>
            <a:off x="8595309" y="412459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84" name="Google Shape;184;g3d522d7315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0" y="628800"/>
            <a:ext cx="9081001" cy="2512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6b3f718c_0_3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Alpha Attribution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8b6b3f718c_0_3"/>
          <p:cNvSpPr txBox="1">
            <a:spLocks noGrp="1"/>
          </p:cNvSpPr>
          <p:nvPr>
            <p:ph type="subTitle" idx="1"/>
          </p:nvPr>
        </p:nvSpPr>
        <p:spPr>
          <a:xfrm>
            <a:off x="282697" y="1047586"/>
            <a:ext cx="4108800" cy="218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Performance deteriorates post-2022 regime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Returns erode after initial accumulation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Indicates regime sensitivity and instability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8b6b3f718c_0_3"/>
          <p:cNvSpPr txBox="1">
            <a:spLocks noGrp="1"/>
          </p:cNvSpPr>
          <p:nvPr>
            <p:ph type="sldNum" idx="12"/>
          </p:nvPr>
        </p:nvSpPr>
        <p:spPr>
          <a:xfrm>
            <a:off x="8588186" y="4140692"/>
            <a:ext cx="548700" cy="9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92" name="Google Shape;192;g38b6b3f718c_0_3"/>
          <p:cNvSpPr txBox="1">
            <a:spLocks noGrp="1"/>
          </p:cNvSpPr>
          <p:nvPr>
            <p:ph type="subTitle" idx="1"/>
          </p:nvPr>
        </p:nvSpPr>
        <p:spPr>
          <a:xfrm>
            <a:off x="3287700" y="628800"/>
            <a:ext cx="2416200" cy="3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Cumulative Alpha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8b6b3f718c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297" y="961200"/>
            <a:ext cx="3891889" cy="318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522d73150_0_8"/>
          <p:cNvSpPr txBox="1">
            <a:spLocks noGrp="1"/>
          </p:cNvSpPr>
          <p:nvPr>
            <p:ph type="ctrTitle"/>
          </p:nvPr>
        </p:nvSpPr>
        <p:spPr>
          <a:xfrm>
            <a:off x="685800" y="0"/>
            <a:ext cx="7772400" cy="628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Next Steps</a:t>
            </a:r>
            <a:endParaRPr sz="3200"/>
          </a:p>
        </p:txBody>
      </p:sp>
      <p:sp>
        <p:nvSpPr>
          <p:cNvPr id="199" name="Google Shape;199;g3d522d73150_0_8"/>
          <p:cNvSpPr txBox="1">
            <a:spLocks noGrp="1"/>
          </p:cNvSpPr>
          <p:nvPr>
            <p:ph type="subTitle" idx="1"/>
          </p:nvPr>
        </p:nvSpPr>
        <p:spPr>
          <a:xfrm>
            <a:off x="535950" y="1009950"/>
            <a:ext cx="8072100" cy="247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Expand factor set:</a:t>
            </a: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 Add missing cross-asset drivers (rates, term structure, volatility, commodities, growth/tech proxies)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Regime detection (TDA):</a:t>
            </a: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 Use topological features to identify market regimes and condition the model dynamically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Time-varying betas:</a:t>
            </a:r>
            <a:r>
              <a:rPr lang="en-US" sz="1800" b="0">
                <a:latin typeface="Arial"/>
                <a:ea typeface="Arial"/>
                <a:cs typeface="Arial"/>
                <a:sym typeface="Arial"/>
              </a:rPr>
              <a:t> Replace static coefficients with rolling/Kalman estimation to capture changing exposures</a:t>
            </a:r>
            <a:endParaRPr sz="1800" b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 b="0"/>
          </a:p>
        </p:txBody>
      </p:sp>
      <p:sp>
        <p:nvSpPr>
          <p:cNvPr id="200" name="Google Shape;200;g3d522d73150_0_8"/>
          <p:cNvSpPr txBox="1">
            <a:spLocks noGrp="1"/>
          </p:cNvSpPr>
          <p:nvPr>
            <p:ph type="sldNum" idx="12"/>
          </p:nvPr>
        </p:nvSpPr>
        <p:spPr>
          <a:xfrm>
            <a:off x="8595309" y="413178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531b86c58_0_2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Thank you!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g3d531b86c58_0_2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62" y="1271600"/>
            <a:ext cx="1681546" cy="168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d531b86c58_0_2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2826" y="1271612"/>
            <a:ext cx="1681546" cy="168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d531b86c58_0_2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9740" y="1277200"/>
            <a:ext cx="1697725" cy="16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d531b86c58_0_281"/>
          <p:cNvSpPr txBox="1"/>
          <p:nvPr/>
        </p:nvSpPr>
        <p:spPr>
          <a:xfrm>
            <a:off x="118692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Chinna Gurram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crgurram@ncsu.edu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d531b86c58_0_281"/>
          <p:cNvSpPr txBox="1"/>
          <p:nvPr/>
        </p:nvSpPr>
        <p:spPr>
          <a:xfrm>
            <a:off x="1906208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Ryan Landey 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rjlandey@ncsu.edu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531b86c58_0_281"/>
          <p:cNvSpPr txBox="1"/>
          <p:nvPr/>
        </p:nvSpPr>
        <p:spPr>
          <a:xfrm>
            <a:off x="3714528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Melanie Sanchez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mnsanche@ncsu.edu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d531b86c58_0_281"/>
          <p:cNvSpPr txBox="1"/>
          <p:nvPr/>
        </p:nvSpPr>
        <p:spPr>
          <a:xfrm>
            <a:off x="5522849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Shiqin Song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ssong29@ncsu.edu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d531b86c58_0_281"/>
          <p:cNvSpPr txBox="1"/>
          <p:nvPr/>
        </p:nvSpPr>
        <p:spPr>
          <a:xfrm>
            <a:off x="7382677" y="3040415"/>
            <a:ext cx="1681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50" tIns="98050" rIns="98050" bIns="98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Derek Wu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dwu22@ncsu.edu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3d531b86c58_0_281"/>
          <p:cNvPicPr preferRelativeResize="0"/>
          <p:nvPr/>
        </p:nvPicPr>
        <p:blipFill rotWithShape="1">
          <a:blip r:embed="rId6">
            <a:alphaModFix/>
          </a:blip>
          <a:srcRect r="-17855" b="-17855"/>
          <a:stretch/>
        </p:blipFill>
        <p:spPr>
          <a:xfrm>
            <a:off x="3714548" y="1271600"/>
            <a:ext cx="1983050" cy="19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d531b86c58_0_281"/>
          <p:cNvSpPr txBox="1">
            <a:spLocks noGrp="1"/>
          </p:cNvSpPr>
          <p:nvPr>
            <p:ph type="sldNum" idx="12"/>
          </p:nvPr>
        </p:nvSpPr>
        <p:spPr>
          <a:xfrm>
            <a:off x="8595309" y="409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16" name="Google Shape;216;g3d531b86c58_0_281" title="_BK1816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6200" y="1260577"/>
            <a:ext cx="1681500" cy="16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w 2018 CS PPTX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On-screen Show (16:9)</PresentationFormat>
  <Paragraphs>205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Open Sans</vt:lpstr>
      <vt:lpstr>Roboto</vt:lpstr>
      <vt:lpstr>Calibri</vt:lpstr>
      <vt:lpstr>Arial</vt:lpstr>
      <vt:lpstr>New 2018 CS PPTX</vt:lpstr>
      <vt:lpstr>Multi Asset Factor Modeling &amp; Alpha Attribution </vt:lpstr>
      <vt:lpstr>The Team</vt:lpstr>
      <vt:lpstr>Big Picture</vt:lpstr>
      <vt:lpstr>Data Universe</vt:lpstr>
      <vt:lpstr>Factor Overview</vt:lpstr>
      <vt:lpstr>Factor Overview</vt:lpstr>
      <vt:lpstr>EDA</vt:lpstr>
      <vt:lpstr>Assumption Validation</vt:lpstr>
      <vt:lpstr>Model Overviews</vt:lpstr>
      <vt:lpstr>Model Fit</vt:lpstr>
      <vt:lpstr>Model Backtesting</vt:lpstr>
      <vt:lpstr>Backtesting Results</vt:lpstr>
      <vt:lpstr>Rolling Backtest</vt:lpstr>
      <vt:lpstr>Alpha Attribution</vt:lpstr>
      <vt:lpstr>Alpha Attribution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chinna rao gurram</dc:creator>
  <cp:lastModifiedBy>chinna rao gurram</cp:lastModifiedBy>
  <cp:revision>2</cp:revision>
  <dcterms:modified xsi:type="dcterms:W3CDTF">2026-04-10T14:27:04Z</dcterms:modified>
</cp:coreProperties>
</file>